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4" r:id="rId1"/>
  </p:sldMasterIdLst>
  <p:notesMasterIdLst>
    <p:notesMasterId r:id="rId15"/>
  </p:notesMasterIdLst>
  <p:sldIdLst>
    <p:sldId id="256" r:id="rId2"/>
    <p:sldId id="257" r:id="rId3"/>
    <p:sldId id="259" r:id="rId4"/>
    <p:sldId id="258" r:id="rId5"/>
    <p:sldId id="260" r:id="rId6"/>
    <p:sldId id="267" r:id="rId7"/>
    <p:sldId id="265" r:id="rId8"/>
    <p:sldId id="268" r:id="rId9"/>
    <p:sldId id="269" r:id="rId10"/>
    <p:sldId id="270" r:id="rId11"/>
    <p:sldId id="266" r:id="rId12"/>
    <p:sldId id="261" r:id="rId13"/>
    <p:sldId id="262"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4" autoAdjust="0"/>
    <p:restoredTop sz="94660"/>
  </p:normalViewPr>
  <p:slideViewPr>
    <p:cSldViewPr snapToGrid="0">
      <p:cViewPr varScale="1">
        <p:scale>
          <a:sx n="62" d="100"/>
          <a:sy n="62" d="100"/>
        </p:scale>
        <p:origin x="825" y="26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7B24AFA-59A8-4989-91A0-73D918D9B74A}" type="datetimeFigureOut">
              <a:rPr lang="es-CL" smtClean="0"/>
              <a:t>09-07-2025</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FF2D70-CB5D-4D3C-A9BF-28178EFBC009}" type="slidenum">
              <a:rPr lang="es-CL" smtClean="0"/>
              <a:t>‹Nº›</a:t>
            </a:fld>
            <a:endParaRPr lang="es-CL"/>
          </a:p>
        </p:txBody>
      </p:sp>
    </p:spTree>
    <p:extLst>
      <p:ext uri="{BB962C8B-B14F-4D97-AF65-F5344CB8AC3E}">
        <p14:creationId xmlns:p14="http://schemas.microsoft.com/office/powerpoint/2010/main" val="41719641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L" dirty="0"/>
          </a:p>
        </p:txBody>
      </p:sp>
      <p:sp>
        <p:nvSpPr>
          <p:cNvPr id="4" name="Marcador de número de diapositiva 3"/>
          <p:cNvSpPr>
            <a:spLocks noGrp="1"/>
          </p:cNvSpPr>
          <p:nvPr>
            <p:ph type="sldNum" sz="quarter" idx="5"/>
          </p:nvPr>
        </p:nvSpPr>
        <p:spPr/>
        <p:txBody>
          <a:bodyPr/>
          <a:lstStyle/>
          <a:p>
            <a:fld id="{EBFF2D70-CB5D-4D3C-A9BF-28178EFBC009}" type="slidenum">
              <a:rPr lang="es-CL" smtClean="0"/>
              <a:t>12</a:t>
            </a:fld>
            <a:endParaRPr lang="es-CL"/>
          </a:p>
        </p:txBody>
      </p:sp>
    </p:spTree>
    <p:extLst>
      <p:ext uri="{BB962C8B-B14F-4D97-AF65-F5344CB8AC3E}">
        <p14:creationId xmlns:p14="http://schemas.microsoft.com/office/powerpoint/2010/main" val="2101445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D015A489-5E92-4D72-B8DD-2D762D52B7E0}" type="datetimeFigureOut">
              <a:rPr lang="es-CL" smtClean="0"/>
              <a:t>09-07-2025</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C6AF756C-B779-43FB-852C-335DAAAF69E7}" type="slidenum">
              <a:rPr lang="es-CL" smtClean="0"/>
              <a:t>‹Nº›</a:t>
            </a:fld>
            <a:endParaRPr lang="es-CL"/>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01498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D015A489-5E92-4D72-B8DD-2D762D52B7E0}" type="datetimeFigureOut">
              <a:rPr lang="es-CL" smtClean="0"/>
              <a:t>09-07-2025</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C6AF756C-B779-43FB-852C-335DAAAF69E7}" type="slidenum">
              <a:rPr lang="es-CL" smtClean="0"/>
              <a:t>‹Nº›</a:t>
            </a:fld>
            <a:endParaRPr lang="es-CL"/>
          </a:p>
        </p:txBody>
      </p:sp>
    </p:spTree>
    <p:extLst>
      <p:ext uri="{BB962C8B-B14F-4D97-AF65-F5344CB8AC3E}">
        <p14:creationId xmlns:p14="http://schemas.microsoft.com/office/powerpoint/2010/main" val="42936683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D015A489-5E92-4D72-B8DD-2D762D52B7E0}" type="datetimeFigureOut">
              <a:rPr lang="es-CL" smtClean="0"/>
              <a:t>09-07-2025</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C6AF756C-B779-43FB-852C-335DAAAF69E7}" type="slidenum">
              <a:rPr lang="es-CL" smtClean="0"/>
              <a:t>‹Nº›</a:t>
            </a:fld>
            <a:endParaRPr lang="es-CL"/>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861437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D015A489-5E92-4D72-B8DD-2D762D52B7E0}" type="datetimeFigureOut">
              <a:rPr lang="es-CL" smtClean="0"/>
              <a:t>09-07-2025</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C6AF756C-B779-43FB-852C-335DAAAF69E7}" type="slidenum">
              <a:rPr lang="es-CL" smtClean="0"/>
              <a:t>‹Nº›</a:t>
            </a:fld>
            <a:endParaRPr lang="es-CL"/>
          </a:p>
        </p:txBody>
      </p:sp>
    </p:spTree>
    <p:extLst>
      <p:ext uri="{BB962C8B-B14F-4D97-AF65-F5344CB8AC3E}">
        <p14:creationId xmlns:p14="http://schemas.microsoft.com/office/powerpoint/2010/main" val="15585149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097280" y="2582334"/>
            <a:ext cx="4937760" cy="33782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217920" y="2582334"/>
            <a:ext cx="4937760" cy="33782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D015A489-5E92-4D72-B8DD-2D762D52B7E0}" type="datetimeFigureOut">
              <a:rPr lang="es-CL" smtClean="0"/>
              <a:t>09-07-2025</a:t>
            </a:fld>
            <a:endParaRPr lang="es-CL"/>
          </a:p>
        </p:txBody>
      </p:sp>
      <p:sp>
        <p:nvSpPr>
          <p:cNvPr id="8" name="Footer Placeholder 7"/>
          <p:cNvSpPr>
            <a:spLocks noGrp="1"/>
          </p:cNvSpPr>
          <p:nvPr>
            <p:ph type="ftr" sz="quarter" idx="11"/>
          </p:nvPr>
        </p:nvSpPr>
        <p:spPr/>
        <p:txBody>
          <a:bodyPr/>
          <a:lstStyle/>
          <a:p>
            <a:endParaRPr lang="es-CL"/>
          </a:p>
        </p:txBody>
      </p:sp>
      <p:sp>
        <p:nvSpPr>
          <p:cNvPr id="9" name="Slide Number Placeholder 8"/>
          <p:cNvSpPr>
            <a:spLocks noGrp="1"/>
          </p:cNvSpPr>
          <p:nvPr>
            <p:ph type="sldNum" sz="quarter" idx="12"/>
          </p:nvPr>
        </p:nvSpPr>
        <p:spPr/>
        <p:txBody>
          <a:bodyPr/>
          <a:lstStyle/>
          <a:p>
            <a:fld id="{C6AF756C-B779-43FB-852C-335DAAAF69E7}" type="slidenum">
              <a:rPr lang="es-CL" smtClean="0"/>
              <a:t>‹Nº›</a:t>
            </a:fld>
            <a:endParaRPr lang="es-CL"/>
          </a:p>
        </p:txBody>
      </p:sp>
    </p:spTree>
    <p:extLst>
      <p:ext uri="{BB962C8B-B14F-4D97-AF65-F5344CB8AC3E}">
        <p14:creationId xmlns:p14="http://schemas.microsoft.com/office/powerpoint/2010/main" val="38676283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D015A489-5E92-4D72-B8DD-2D762D52B7E0}" type="datetimeFigureOut">
              <a:rPr lang="es-CL" smtClean="0"/>
              <a:t>09-07-2025</a:t>
            </a:fld>
            <a:endParaRPr lang="es-CL"/>
          </a:p>
        </p:txBody>
      </p:sp>
      <p:sp>
        <p:nvSpPr>
          <p:cNvPr id="4" name="Footer Placeholder 3"/>
          <p:cNvSpPr>
            <a:spLocks noGrp="1"/>
          </p:cNvSpPr>
          <p:nvPr>
            <p:ph type="ftr" sz="quarter" idx="11"/>
          </p:nvPr>
        </p:nvSpPr>
        <p:spPr/>
        <p:txBody>
          <a:bodyPr/>
          <a:lstStyle/>
          <a:p>
            <a:endParaRPr lang="es-CL"/>
          </a:p>
        </p:txBody>
      </p:sp>
      <p:sp>
        <p:nvSpPr>
          <p:cNvPr id="5" name="Slide Number Placeholder 4"/>
          <p:cNvSpPr>
            <a:spLocks noGrp="1"/>
          </p:cNvSpPr>
          <p:nvPr>
            <p:ph type="sldNum" sz="quarter" idx="12"/>
          </p:nvPr>
        </p:nvSpPr>
        <p:spPr/>
        <p:txBody>
          <a:bodyPr/>
          <a:lstStyle/>
          <a:p>
            <a:fld id="{C6AF756C-B779-43FB-852C-335DAAAF69E7}" type="slidenum">
              <a:rPr lang="es-CL" smtClean="0"/>
              <a:t>‹Nº›</a:t>
            </a:fld>
            <a:endParaRPr lang="es-CL"/>
          </a:p>
        </p:txBody>
      </p:sp>
    </p:spTree>
    <p:extLst>
      <p:ext uri="{BB962C8B-B14F-4D97-AF65-F5344CB8AC3E}">
        <p14:creationId xmlns:p14="http://schemas.microsoft.com/office/powerpoint/2010/main" val="14297511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015A489-5E92-4D72-B8DD-2D762D52B7E0}" type="datetimeFigureOut">
              <a:rPr lang="es-CL" smtClean="0"/>
              <a:t>09-07-2025</a:t>
            </a:fld>
            <a:endParaRPr lang="es-CL"/>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s-CL"/>
          </a:p>
        </p:txBody>
      </p:sp>
      <p:sp>
        <p:nvSpPr>
          <p:cNvPr id="9" name="Slide Number Placeholder 8"/>
          <p:cNvSpPr>
            <a:spLocks noGrp="1"/>
          </p:cNvSpPr>
          <p:nvPr>
            <p:ph type="sldNum" sz="quarter" idx="12"/>
          </p:nvPr>
        </p:nvSpPr>
        <p:spPr/>
        <p:txBody>
          <a:bodyPr/>
          <a:lstStyle/>
          <a:p>
            <a:fld id="{C6AF756C-B779-43FB-852C-335DAAAF69E7}" type="slidenum">
              <a:rPr lang="es-CL" smtClean="0"/>
              <a:t>‹Nº›</a:t>
            </a:fld>
            <a:endParaRPr lang="es-CL"/>
          </a:p>
        </p:txBody>
      </p:sp>
    </p:spTree>
    <p:extLst>
      <p:ext uri="{BB962C8B-B14F-4D97-AF65-F5344CB8AC3E}">
        <p14:creationId xmlns:p14="http://schemas.microsoft.com/office/powerpoint/2010/main" val="2472930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D015A489-5E92-4D72-B8DD-2D762D52B7E0}" type="datetimeFigureOut">
              <a:rPr lang="es-CL" smtClean="0"/>
              <a:t>09-07-2025</a:t>
            </a:fld>
            <a:endParaRPr lang="es-CL"/>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s-CL"/>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C6AF756C-B779-43FB-852C-335DAAAF69E7}" type="slidenum">
              <a:rPr lang="es-CL" smtClean="0"/>
              <a:t>‹Nº›</a:t>
            </a:fld>
            <a:endParaRPr lang="es-CL"/>
          </a:p>
        </p:txBody>
      </p:sp>
    </p:spTree>
    <p:extLst>
      <p:ext uri="{BB962C8B-B14F-4D97-AF65-F5344CB8AC3E}">
        <p14:creationId xmlns:p14="http://schemas.microsoft.com/office/powerpoint/2010/main" val="30638310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D015A489-5E92-4D72-B8DD-2D762D52B7E0}" type="datetimeFigureOut">
              <a:rPr lang="es-CL" smtClean="0"/>
              <a:t>09-07-2025</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C6AF756C-B779-43FB-852C-335DAAAF69E7}" type="slidenum">
              <a:rPr lang="es-CL" smtClean="0"/>
              <a:t>‹Nº›</a:t>
            </a:fld>
            <a:endParaRPr lang="es-CL"/>
          </a:p>
        </p:txBody>
      </p:sp>
    </p:spTree>
    <p:extLst>
      <p:ext uri="{BB962C8B-B14F-4D97-AF65-F5344CB8AC3E}">
        <p14:creationId xmlns:p14="http://schemas.microsoft.com/office/powerpoint/2010/main" val="24086042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D015A489-5E92-4D72-B8DD-2D762D52B7E0}" type="datetimeFigureOut">
              <a:rPr lang="es-CL" smtClean="0"/>
              <a:t>09-07-2025</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C6AF756C-B779-43FB-852C-335DAAAF69E7}" type="slidenum">
              <a:rPr lang="es-CL" smtClean="0"/>
              <a:t>‹Nº›</a:t>
            </a:fld>
            <a:endParaRPr lang="es-CL"/>
          </a:p>
        </p:txBody>
      </p:sp>
    </p:spTree>
    <p:extLst>
      <p:ext uri="{BB962C8B-B14F-4D97-AF65-F5344CB8AC3E}">
        <p14:creationId xmlns:p14="http://schemas.microsoft.com/office/powerpoint/2010/main" val="42133581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D015A489-5E92-4D72-B8DD-2D762D52B7E0}" type="datetimeFigureOut">
              <a:rPr lang="es-CL" smtClean="0"/>
              <a:t>09-07-2025</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C6AF756C-B779-43FB-852C-335DAAAF69E7}" type="slidenum">
              <a:rPr lang="es-CL" smtClean="0"/>
              <a:t>‹Nº›</a:t>
            </a:fld>
            <a:endParaRPr lang="es-CL"/>
          </a:p>
        </p:txBody>
      </p:sp>
    </p:spTree>
    <p:extLst>
      <p:ext uri="{BB962C8B-B14F-4D97-AF65-F5344CB8AC3E}">
        <p14:creationId xmlns:p14="http://schemas.microsoft.com/office/powerpoint/2010/main" val="28491202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D015A489-5E92-4D72-B8DD-2D762D52B7E0}" type="datetimeFigureOut">
              <a:rPr lang="es-CL" smtClean="0"/>
              <a:t>09-07-2025</a:t>
            </a:fld>
            <a:endParaRPr lang="es-CL"/>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s-CL"/>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C6AF756C-B779-43FB-852C-335DAAAF69E7}" type="slidenum">
              <a:rPr lang="es-CL" smtClean="0"/>
              <a:t>‹Nº›</a:t>
            </a:fld>
            <a:endParaRPr lang="es-CL"/>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36785837"/>
      </p:ext>
    </p:extLst>
  </p:cSld>
  <p:clrMap bg1="lt1" tx1="dk1" bg2="lt2" tx2="dk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 id="2147483784" r:id="rId10"/>
    <p:sldLayoutId id="2147483785"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2">
            <a:extLst>
              <a:ext uri="{FF2B5EF4-FFF2-40B4-BE49-F238E27FC236}">
                <a16:creationId xmlns:a16="http://schemas.microsoft.com/office/drawing/2014/main" id="{18881539-63ED-B5AE-63E0-F8E877DF02AA}"/>
              </a:ext>
            </a:extLst>
          </p:cNvPr>
          <p:cNvSpPr>
            <a:spLocks noGrp="1"/>
          </p:cNvSpPr>
          <p:nvPr>
            <p:ph type="subTitle" idx="1"/>
          </p:nvPr>
        </p:nvSpPr>
        <p:spPr>
          <a:xfrm>
            <a:off x="1100051" y="3526971"/>
            <a:ext cx="10058400" cy="2071650"/>
          </a:xfrm>
        </p:spPr>
        <p:txBody>
          <a:bodyPr>
            <a:normAutofit/>
          </a:bodyPr>
          <a:lstStyle/>
          <a:p>
            <a:pPr algn="ctr"/>
            <a:r>
              <a:rPr lang="es-ES" sz="3200" b="1" dirty="0"/>
              <a:t>Proyecto 1- Parte final (Core)</a:t>
            </a:r>
          </a:p>
          <a:p>
            <a:pPr algn="ctr"/>
            <a:endParaRPr lang="es-ES" sz="3200" b="1" dirty="0"/>
          </a:p>
          <a:p>
            <a:pPr algn="ctr"/>
            <a:r>
              <a:rPr lang="es-ES" b="1" dirty="0"/>
              <a:t>Análisis y Predicción de Ventas en una Tienda de </a:t>
            </a:r>
            <a:r>
              <a:rPr lang="es-ES" b="1" dirty="0" err="1"/>
              <a:t>Retail</a:t>
            </a:r>
            <a:endParaRPr lang="es-ES" dirty="0"/>
          </a:p>
          <a:p>
            <a:endParaRPr lang="es-CL" dirty="0"/>
          </a:p>
        </p:txBody>
      </p:sp>
      <p:pic>
        <p:nvPicPr>
          <p:cNvPr id="1026" name="Picture 2">
            <a:extLst>
              <a:ext uri="{FF2B5EF4-FFF2-40B4-BE49-F238E27FC236}">
                <a16:creationId xmlns:a16="http://schemas.microsoft.com/office/drawing/2014/main" id="{3146D1F0-3627-B3BF-4B67-70A3D357CA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251" y="305131"/>
            <a:ext cx="12192000" cy="2971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66824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97C4595-EDA9-4C6A-A0E6-CB2E2F54C49A}"/>
              </a:ext>
            </a:extLst>
          </p:cNvPr>
          <p:cNvSpPr>
            <a:spLocks noGrp="1"/>
          </p:cNvSpPr>
          <p:nvPr>
            <p:ph type="title"/>
          </p:nvPr>
        </p:nvSpPr>
        <p:spPr>
          <a:xfrm>
            <a:off x="1097280" y="286604"/>
            <a:ext cx="10058400" cy="781478"/>
          </a:xfrm>
        </p:spPr>
        <p:txBody>
          <a:bodyPr/>
          <a:lstStyle/>
          <a:p>
            <a:r>
              <a:rPr lang="es-CL" b="1" dirty="0"/>
              <a:t>Contenido</a:t>
            </a:r>
          </a:p>
        </p:txBody>
      </p:sp>
      <p:sp>
        <p:nvSpPr>
          <p:cNvPr id="3" name="Marcador de contenido 2">
            <a:extLst>
              <a:ext uri="{FF2B5EF4-FFF2-40B4-BE49-F238E27FC236}">
                <a16:creationId xmlns:a16="http://schemas.microsoft.com/office/drawing/2014/main" id="{86FEA1A4-1278-1A5B-CB2E-F0AB6C4CAEED}"/>
              </a:ext>
            </a:extLst>
          </p:cNvPr>
          <p:cNvSpPr>
            <a:spLocks noGrp="1"/>
          </p:cNvSpPr>
          <p:nvPr>
            <p:ph idx="1"/>
          </p:nvPr>
        </p:nvSpPr>
        <p:spPr/>
        <p:txBody>
          <a:bodyPr/>
          <a:lstStyle/>
          <a:p>
            <a:pPr fontAlgn="base"/>
            <a:endParaRPr lang="es-ES" dirty="0"/>
          </a:p>
          <a:p>
            <a:pPr fontAlgn="base"/>
            <a:r>
              <a:rPr lang="es-ES" dirty="0"/>
              <a:t>Introducción y objetivos del proyecto.</a:t>
            </a:r>
          </a:p>
          <a:p>
            <a:pPr fontAlgn="base"/>
            <a:r>
              <a:rPr lang="es-ES" dirty="0"/>
              <a:t>Descripción del conjunto de datos.</a:t>
            </a:r>
          </a:p>
          <a:p>
            <a:pPr fontAlgn="base"/>
            <a:r>
              <a:rPr lang="es-ES" dirty="0"/>
              <a:t>Principales análisis y hallazgos.</a:t>
            </a:r>
          </a:p>
          <a:p>
            <a:pPr fontAlgn="base"/>
            <a:r>
              <a:rPr lang="es-ES" dirty="0"/>
              <a:t>Visualizaciones clave con explicación.</a:t>
            </a:r>
          </a:p>
          <a:p>
            <a:pPr fontAlgn="base"/>
            <a:r>
              <a:rPr lang="es-ES" dirty="0"/>
              <a:t>Conclusiones y recomendaciones</a:t>
            </a:r>
          </a:p>
          <a:p>
            <a:endParaRPr lang="es-CL" dirty="0"/>
          </a:p>
        </p:txBody>
      </p:sp>
    </p:spTree>
    <p:extLst>
      <p:ext uri="{BB962C8B-B14F-4D97-AF65-F5344CB8AC3E}">
        <p14:creationId xmlns:p14="http://schemas.microsoft.com/office/powerpoint/2010/main" val="36034461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556807-19DC-5F4C-03D2-8AFC4F1C723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E8A69AC-A560-22B3-AC24-188DFA70F887}"/>
              </a:ext>
            </a:extLst>
          </p:cNvPr>
          <p:cNvSpPr>
            <a:spLocks noGrp="1"/>
          </p:cNvSpPr>
          <p:nvPr>
            <p:ph type="title"/>
          </p:nvPr>
        </p:nvSpPr>
        <p:spPr>
          <a:xfrm>
            <a:off x="1097280" y="286604"/>
            <a:ext cx="10058400" cy="781478"/>
          </a:xfrm>
        </p:spPr>
        <p:txBody>
          <a:bodyPr/>
          <a:lstStyle/>
          <a:p>
            <a:pPr fontAlgn="base"/>
            <a:r>
              <a:rPr lang="es-ES" dirty="0"/>
              <a:t>Introducción y objetivos del proyecto.</a:t>
            </a:r>
          </a:p>
        </p:txBody>
      </p:sp>
      <p:sp>
        <p:nvSpPr>
          <p:cNvPr id="3" name="Marcador de contenido 2">
            <a:extLst>
              <a:ext uri="{FF2B5EF4-FFF2-40B4-BE49-F238E27FC236}">
                <a16:creationId xmlns:a16="http://schemas.microsoft.com/office/drawing/2014/main" id="{D40C60F2-824E-0CC2-72B9-F32E142462EC}"/>
              </a:ext>
            </a:extLst>
          </p:cNvPr>
          <p:cNvSpPr>
            <a:spLocks noGrp="1"/>
          </p:cNvSpPr>
          <p:nvPr>
            <p:ph idx="1"/>
          </p:nvPr>
        </p:nvSpPr>
        <p:spPr/>
        <p:txBody>
          <a:bodyPr/>
          <a:lstStyle/>
          <a:p>
            <a:pPr fontAlgn="base"/>
            <a:r>
              <a:rPr lang="es-ES" dirty="0"/>
              <a:t>En el presente proyecto entrenaremos y evaluaremos múltiples modelos de machine </a:t>
            </a:r>
            <a:r>
              <a:rPr lang="es-ES" dirty="0" err="1"/>
              <a:t>learning</a:t>
            </a:r>
            <a:r>
              <a:rPr lang="es-ES" dirty="0"/>
              <a:t> (por ejemplo, Regresión Lineal, KNN, Árbol de Decisión, </a:t>
            </a:r>
            <a:r>
              <a:rPr lang="es-ES" dirty="0" err="1"/>
              <a:t>Random</a:t>
            </a:r>
            <a:r>
              <a:rPr lang="es-ES" dirty="0"/>
              <a:t> Forest, </a:t>
            </a:r>
            <a:r>
              <a:rPr lang="es-ES" dirty="0" err="1"/>
              <a:t>XGBoost</a:t>
            </a:r>
            <a:r>
              <a:rPr lang="es-ES" dirty="0"/>
              <a:t> y LGBM).</a:t>
            </a:r>
          </a:p>
          <a:p>
            <a:pPr fontAlgn="base"/>
            <a:r>
              <a:rPr lang="es-ES" dirty="0"/>
              <a:t>Para este trabajo se utilizará una nueva forma de entrenar modelos, éste forma es la validación cruzada y con ellos evaluaremos el rendimiento de éstos.</a:t>
            </a:r>
          </a:p>
          <a:p>
            <a:endParaRPr lang="es-ES" dirty="0"/>
          </a:p>
          <a:p>
            <a:r>
              <a:rPr lang="es-ES" dirty="0"/>
              <a:t>El objetivo será realizar un análisis exploratorio de datos (EDA) completo, preprocesamiento y benchmarking de técnicas de machine </a:t>
            </a:r>
            <a:r>
              <a:rPr lang="es-ES" dirty="0" err="1"/>
              <a:t>learning</a:t>
            </a:r>
            <a:r>
              <a:rPr lang="es-ES" dirty="0"/>
              <a:t> para predecir ventas en una tienda de </a:t>
            </a:r>
            <a:r>
              <a:rPr lang="es-ES" dirty="0" err="1"/>
              <a:t>retail</a:t>
            </a:r>
            <a:r>
              <a:rPr lang="es-ES" dirty="0"/>
              <a:t>. Además, generar un análisis de métricas </a:t>
            </a:r>
            <a:endParaRPr lang="es-CL" dirty="0"/>
          </a:p>
        </p:txBody>
      </p:sp>
    </p:spTree>
    <p:extLst>
      <p:ext uri="{BB962C8B-B14F-4D97-AF65-F5344CB8AC3E}">
        <p14:creationId xmlns:p14="http://schemas.microsoft.com/office/powerpoint/2010/main" val="14026383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6C2C9E-AC41-5710-B97F-C42CD901346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AB42AC4-0548-E36E-65C9-9AB77F926636}"/>
              </a:ext>
            </a:extLst>
          </p:cNvPr>
          <p:cNvSpPr>
            <a:spLocks noGrp="1"/>
          </p:cNvSpPr>
          <p:nvPr>
            <p:ph type="title"/>
          </p:nvPr>
        </p:nvSpPr>
        <p:spPr>
          <a:xfrm>
            <a:off x="1097280" y="286604"/>
            <a:ext cx="10058400" cy="781478"/>
          </a:xfrm>
        </p:spPr>
        <p:txBody>
          <a:bodyPr/>
          <a:lstStyle/>
          <a:p>
            <a:r>
              <a:rPr lang="es-ES" dirty="0"/>
              <a:t>Descripción del conjunto de datos</a:t>
            </a:r>
            <a:endParaRPr lang="es-CL" dirty="0"/>
          </a:p>
        </p:txBody>
      </p:sp>
      <p:sp>
        <p:nvSpPr>
          <p:cNvPr id="3" name="Marcador de contenido 2">
            <a:extLst>
              <a:ext uri="{FF2B5EF4-FFF2-40B4-BE49-F238E27FC236}">
                <a16:creationId xmlns:a16="http://schemas.microsoft.com/office/drawing/2014/main" id="{3BF13505-EB96-6EF6-223F-0BD8670C794A}"/>
              </a:ext>
            </a:extLst>
          </p:cNvPr>
          <p:cNvSpPr>
            <a:spLocks noGrp="1"/>
          </p:cNvSpPr>
          <p:nvPr>
            <p:ph idx="1"/>
          </p:nvPr>
        </p:nvSpPr>
        <p:spPr/>
        <p:txBody>
          <a:bodyPr>
            <a:normAutofit/>
          </a:bodyPr>
          <a:lstStyle/>
          <a:p>
            <a:pPr fontAlgn="base"/>
            <a:r>
              <a:rPr lang="es-ES" dirty="0"/>
              <a:t>El </a:t>
            </a:r>
            <a:r>
              <a:rPr lang="es-ES" dirty="0" err="1"/>
              <a:t>dataset</a:t>
            </a:r>
            <a:r>
              <a:rPr lang="es-ES" dirty="0"/>
              <a:t> seleccionado para este proyecto es el siguiente</a:t>
            </a:r>
          </a:p>
          <a:p>
            <a:pPr fontAlgn="base"/>
            <a:endParaRPr lang="es-ES" dirty="0"/>
          </a:p>
          <a:p>
            <a:pPr fontAlgn="base"/>
            <a:endParaRPr lang="es-ES" dirty="0"/>
          </a:p>
          <a:p>
            <a:pPr fontAlgn="base"/>
            <a:endParaRPr lang="es-ES" dirty="0"/>
          </a:p>
          <a:p>
            <a:pPr fontAlgn="base"/>
            <a:endParaRPr lang="es-ES" dirty="0"/>
          </a:p>
          <a:p>
            <a:pPr fontAlgn="base">
              <a:lnSpc>
                <a:spcPct val="0"/>
              </a:lnSpc>
            </a:pPr>
            <a:endParaRPr lang="es-ES" sz="1200" b="1" dirty="0"/>
          </a:p>
          <a:p>
            <a:pPr fontAlgn="base">
              <a:lnSpc>
                <a:spcPct val="0"/>
              </a:lnSpc>
            </a:pPr>
            <a:r>
              <a:rPr lang="es-ES" sz="1200" b="1" dirty="0" err="1"/>
              <a:t>Transaction</a:t>
            </a:r>
            <a:r>
              <a:rPr lang="es-ES" sz="1200" b="1" dirty="0"/>
              <a:t> ID: </a:t>
            </a:r>
            <a:r>
              <a:rPr lang="es-ES" sz="1200" dirty="0"/>
              <a:t>corresponde al numero de transacción</a:t>
            </a:r>
          </a:p>
          <a:p>
            <a:pPr fontAlgn="base">
              <a:lnSpc>
                <a:spcPct val="0"/>
              </a:lnSpc>
            </a:pPr>
            <a:r>
              <a:rPr lang="es-ES" sz="1200" b="1" dirty="0"/>
              <a:t>Date: </a:t>
            </a:r>
            <a:r>
              <a:rPr lang="es-ES" sz="1200" dirty="0"/>
              <a:t>fecha de la transacción</a:t>
            </a:r>
          </a:p>
          <a:p>
            <a:pPr fontAlgn="base">
              <a:lnSpc>
                <a:spcPct val="0"/>
              </a:lnSpc>
            </a:pPr>
            <a:r>
              <a:rPr lang="es-ES" sz="1200" b="1" dirty="0" err="1"/>
              <a:t>Customer</a:t>
            </a:r>
            <a:r>
              <a:rPr lang="es-ES" sz="1200" b="1" dirty="0"/>
              <a:t> ID: </a:t>
            </a:r>
            <a:r>
              <a:rPr lang="es-ES" sz="1200" dirty="0"/>
              <a:t>identificador del cliente</a:t>
            </a:r>
          </a:p>
          <a:p>
            <a:pPr fontAlgn="base">
              <a:lnSpc>
                <a:spcPct val="0"/>
              </a:lnSpc>
            </a:pPr>
            <a:r>
              <a:rPr lang="es-ES" sz="1200" b="1" dirty="0" err="1"/>
              <a:t>Gender</a:t>
            </a:r>
            <a:r>
              <a:rPr lang="es-ES" sz="1200" dirty="0"/>
              <a:t>: sexo del cliente</a:t>
            </a:r>
          </a:p>
          <a:p>
            <a:pPr fontAlgn="base">
              <a:lnSpc>
                <a:spcPct val="0"/>
              </a:lnSpc>
            </a:pPr>
            <a:r>
              <a:rPr lang="es-CL" sz="1200" b="1" dirty="0" err="1"/>
              <a:t>Age</a:t>
            </a:r>
            <a:r>
              <a:rPr lang="es-CL" sz="1200" dirty="0" err="1"/>
              <a:t>:Edad</a:t>
            </a:r>
            <a:r>
              <a:rPr lang="es-CL" sz="1200" dirty="0"/>
              <a:t> del cliente</a:t>
            </a:r>
          </a:p>
          <a:p>
            <a:pPr fontAlgn="base">
              <a:lnSpc>
                <a:spcPct val="0"/>
              </a:lnSpc>
            </a:pPr>
            <a:r>
              <a:rPr lang="es-CL" sz="1200" b="1" dirty="0" err="1"/>
              <a:t>Product</a:t>
            </a:r>
            <a:r>
              <a:rPr lang="es-CL" sz="1200" b="1" dirty="0"/>
              <a:t> </a:t>
            </a:r>
            <a:r>
              <a:rPr lang="es-CL" sz="1200" b="1" dirty="0" err="1"/>
              <a:t>Category</a:t>
            </a:r>
            <a:r>
              <a:rPr lang="es-CL" sz="1200" b="1" dirty="0"/>
              <a:t>: </a:t>
            </a:r>
            <a:r>
              <a:rPr lang="es-CL" sz="1200" dirty="0"/>
              <a:t>categoría del producto</a:t>
            </a:r>
          </a:p>
          <a:p>
            <a:pPr fontAlgn="base">
              <a:lnSpc>
                <a:spcPct val="0"/>
              </a:lnSpc>
            </a:pPr>
            <a:r>
              <a:rPr lang="es-CL" sz="1200" b="1" dirty="0" err="1"/>
              <a:t>Quantity</a:t>
            </a:r>
            <a:r>
              <a:rPr lang="es-CL" sz="1200" b="1" dirty="0"/>
              <a:t>: </a:t>
            </a:r>
            <a:r>
              <a:rPr lang="es-CL" sz="1200" dirty="0"/>
              <a:t>Cantidad de productos vendidos</a:t>
            </a:r>
          </a:p>
          <a:p>
            <a:pPr fontAlgn="base">
              <a:lnSpc>
                <a:spcPct val="0"/>
              </a:lnSpc>
            </a:pPr>
            <a:r>
              <a:rPr lang="es-CL" sz="1200" b="1" dirty="0"/>
              <a:t>Price per </a:t>
            </a:r>
            <a:r>
              <a:rPr lang="es-CL" sz="1200" b="1" dirty="0" err="1"/>
              <a:t>Unit</a:t>
            </a:r>
            <a:r>
              <a:rPr lang="es-CL" sz="1200" b="1" dirty="0"/>
              <a:t>: </a:t>
            </a:r>
            <a:r>
              <a:rPr lang="es-CL" sz="1200" dirty="0"/>
              <a:t>precio unitario</a:t>
            </a:r>
          </a:p>
          <a:p>
            <a:pPr fontAlgn="base">
              <a:lnSpc>
                <a:spcPct val="0"/>
              </a:lnSpc>
            </a:pPr>
            <a:r>
              <a:rPr lang="es-CL" sz="1200" b="1" dirty="0"/>
              <a:t>Total </a:t>
            </a:r>
            <a:r>
              <a:rPr lang="es-CL" sz="1200" b="1" dirty="0" err="1"/>
              <a:t>Amount</a:t>
            </a:r>
            <a:r>
              <a:rPr lang="es-CL" sz="1200" b="1" dirty="0"/>
              <a:t>: </a:t>
            </a:r>
            <a:r>
              <a:rPr lang="es-CL" sz="1200" dirty="0"/>
              <a:t>Monto total de la venta</a:t>
            </a:r>
          </a:p>
          <a:p>
            <a:pPr marL="0" indent="0" fontAlgn="base">
              <a:lnSpc>
                <a:spcPct val="0"/>
              </a:lnSpc>
              <a:buNone/>
            </a:pPr>
            <a:endParaRPr lang="es-CL" sz="1000" dirty="0"/>
          </a:p>
        </p:txBody>
      </p:sp>
      <p:pic>
        <p:nvPicPr>
          <p:cNvPr id="5" name="Imagen 4">
            <a:extLst>
              <a:ext uri="{FF2B5EF4-FFF2-40B4-BE49-F238E27FC236}">
                <a16:creationId xmlns:a16="http://schemas.microsoft.com/office/drawing/2014/main" id="{3FD25243-5B82-E94E-856A-D533A71162B6}"/>
              </a:ext>
            </a:extLst>
          </p:cNvPr>
          <p:cNvPicPr>
            <a:picLocks noChangeAspect="1"/>
          </p:cNvPicPr>
          <p:nvPr/>
        </p:nvPicPr>
        <p:blipFill>
          <a:blip r:embed="rId2"/>
          <a:stretch>
            <a:fillRect/>
          </a:stretch>
        </p:blipFill>
        <p:spPr>
          <a:xfrm>
            <a:off x="2815901" y="2288067"/>
            <a:ext cx="7396224" cy="1730683"/>
          </a:xfrm>
          <a:prstGeom prst="rect">
            <a:avLst/>
          </a:prstGeom>
        </p:spPr>
      </p:pic>
    </p:spTree>
    <p:extLst>
      <p:ext uri="{BB962C8B-B14F-4D97-AF65-F5344CB8AC3E}">
        <p14:creationId xmlns:p14="http://schemas.microsoft.com/office/powerpoint/2010/main" val="21377451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F4838D-BCD0-EA55-033A-4FC2D5D22CE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109CA59-8C51-73C8-1057-AC009F55371E}"/>
              </a:ext>
            </a:extLst>
          </p:cNvPr>
          <p:cNvSpPr>
            <a:spLocks noGrp="1"/>
          </p:cNvSpPr>
          <p:nvPr>
            <p:ph type="title"/>
          </p:nvPr>
        </p:nvSpPr>
        <p:spPr>
          <a:xfrm>
            <a:off x="1097280" y="286604"/>
            <a:ext cx="10058400" cy="781478"/>
          </a:xfrm>
        </p:spPr>
        <p:txBody>
          <a:bodyPr>
            <a:normAutofit/>
          </a:bodyPr>
          <a:lstStyle/>
          <a:p>
            <a:r>
              <a:rPr lang="es-ES" dirty="0"/>
              <a:t>Principales análisis y hallazgos.</a:t>
            </a:r>
            <a:endParaRPr lang="es-CL" dirty="0"/>
          </a:p>
        </p:txBody>
      </p:sp>
      <p:sp>
        <p:nvSpPr>
          <p:cNvPr id="6" name="Marcador de contenido 5">
            <a:extLst>
              <a:ext uri="{FF2B5EF4-FFF2-40B4-BE49-F238E27FC236}">
                <a16:creationId xmlns:a16="http://schemas.microsoft.com/office/drawing/2014/main" id="{387750FD-67A6-02DA-DCB1-038263E38AB5}"/>
              </a:ext>
            </a:extLst>
          </p:cNvPr>
          <p:cNvSpPr>
            <a:spLocks noGrp="1"/>
          </p:cNvSpPr>
          <p:nvPr>
            <p:ph idx="1"/>
          </p:nvPr>
        </p:nvSpPr>
        <p:spPr>
          <a:xfrm>
            <a:off x="1252498" y="1845734"/>
            <a:ext cx="9903182" cy="4023360"/>
          </a:xfrm>
        </p:spPr>
        <p:txBody>
          <a:bodyPr>
            <a:normAutofit fontScale="47500" lnSpcReduction="20000"/>
          </a:bodyPr>
          <a:lstStyle/>
          <a:p>
            <a:r>
              <a:rPr lang="es-CL" sz="2900" dirty="0"/>
              <a:t>Se realiza un EDA para revisar los datos y analizarlos.</a:t>
            </a:r>
          </a:p>
          <a:p>
            <a:endParaRPr lang="es-CL" dirty="0"/>
          </a:p>
          <a:p>
            <a:endParaRPr lang="es-CL" dirty="0"/>
          </a:p>
          <a:p>
            <a:endParaRPr lang="es-CL" dirty="0"/>
          </a:p>
          <a:p>
            <a:endParaRPr lang="es-CL" dirty="0"/>
          </a:p>
          <a:p>
            <a:endParaRPr lang="es-CL" dirty="0"/>
          </a:p>
          <a:p>
            <a:endParaRPr lang="es-CL" dirty="0"/>
          </a:p>
          <a:p>
            <a:endParaRPr lang="es-CL" dirty="0"/>
          </a:p>
          <a:p>
            <a:endParaRPr lang="es-CL" dirty="0"/>
          </a:p>
          <a:p>
            <a:endParaRPr lang="es-CL" dirty="0"/>
          </a:p>
          <a:p>
            <a:endParaRPr lang="es-CL" dirty="0"/>
          </a:p>
          <a:p>
            <a:endParaRPr lang="es-CL" dirty="0"/>
          </a:p>
          <a:p>
            <a:r>
              <a:rPr lang="es-CL" sz="2900" dirty="0"/>
              <a:t>Dentro de mi primer análisis, quise desplegar una gráfica con las ventas mensuales, donde se puede apreciar que éstas son variables cada mes, llegando al último mes con una caída pronunciada. En este caso, asumo que de ese mes no se tenía la cantidad total de registros </a:t>
            </a:r>
          </a:p>
          <a:p>
            <a:endParaRPr lang="es-CL" dirty="0"/>
          </a:p>
        </p:txBody>
      </p:sp>
      <p:pic>
        <p:nvPicPr>
          <p:cNvPr id="8" name="Imagen 7">
            <a:extLst>
              <a:ext uri="{FF2B5EF4-FFF2-40B4-BE49-F238E27FC236}">
                <a16:creationId xmlns:a16="http://schemas.microsoft.com/office/drawing/2014/main" id="{51D021DC-ED71-CFCB-382F-335F5E37BB82}"/>
              </a:ext>
            </a:extLst>
          </p:cNvPr>
          <p:cNvPicPr>
            <a:picLocks noChangeAspect="1"/>
          </p:cNvPicPr>
          <p:nvPr/>
        </p:nvPicPr>
        <p:blipFill>
          <a:blip r:embed="rId2"/>
          <a:stretch>
            <a:fillRect/>
          </a:stretch>
        </p:blipFill>
        <p:spPr>
          <a:xfrm>
            <a:off x="2086681" y="2167691"/>
            <a:ext cx="6198577" cy="3078488"/>
          </a:xfrm>
          <a:prstGeom prst="rect">
            <a:avLst/>
          </a:prstGeom>
        </p:spPr>
      </p:pic>
    </p:spTree>
    <p:extLst>
      <p:ext uri="{BB962C8B-B14F-4D97-AF65-F5344CB8AC3E}">
        <p14:creationId xmlns:p14="http://schemas.microsoft.com/office/powerpoint/2010/main" val="32074370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DE5F6-73B7-8F5C-FA2A-1761FE5F17C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4AB5C34-0197-05F6-72CB-570A17E4E136}"/>
              </a:ext>
            </a:extLst>
          </p:cNvPr>
          <p:cNvSpPr>
            <a:spLocks noGrp="1"/>
          </p:cNvSpPr>
          <p:nvPr>
            <p:ph type="title"/>
          </p:nvPr>
        </p:nvSpPr>
        <p:spPr>
          <a:xfrm>
            <a:off x="1097280" y="286604"/>
            <a:ext cx="10058400" cy="781478"/>
          </a:xfrm>
        </p:spPr>
        <p:txBody>
          <a:bodyPr>
            <a:normAutofit/>
          </a:bodyPr>
          <a:lstStyle/>
          <a:p>
            <a:r>
              <a:rPr lang="es-ES" dirty="0"/>
              <a:t>Principales análisis y hallazgos.</a:t>
            </a:r>
            <a:endParaRPr lang="es-CL" dirty="0"/>
          </a:p>
        </p:txBody>
      </p:sp>
      <p:sp>
        <p:nvSpPr>
          <p:cNvPr id="3" name="Marcador de contenido 2">
            <a:extLst>
              <a:ext uri="{FF2B5EF4-FFF2-40B4-BE49-F238E27FC236}">
                <a16:creationId xmlns:a16="http://schemas.microsoft.com/office/drawing/2014/main" id="{831049AB-4AF7-DB6F-BD1A-4C94045F841E}"/>
              </a:ext>
            </a:extLst>
          </p:cNvPr>
          <p:cNvSpPr>
            <a:spLocks noGrp="1"/>
          </p:cNvSpPr>
          <p:nvPr>
            <p:ph idx="1"/>
          </p:nvPr>
        </p:nvSpPr>
        <p:spPr/>
        <p:txBody>
          <a:bodyPr/>
          <a:lstStyle/>
          <a:p>
            <a:pPr fontAlgn="base"/>
            <a:endParaRPr lang="es-ES" dirty="0"/>
          </a:p>
          <a:p>
            <a:endParaRPr lang="es-CL" dirty="0"/>
          </a:p>
        </p:txBody>
      </p:sp>
      <p:sp>
        <p:nvSpPr>
          <p:cNvPr id="6" name="Marcador de contenido 5">
            <a:extLst>
              <a:ext uri="{FF2B5EF4-FFF2-40B4-BE49-F238E27FC236}">
                <a16:creationId xmlns:a16="http://schemas.microsoft.com/office/drawing/2014/main" id="{8039E9E6-0D03-2521-9148-B09FD23C0578}"/>
              </a:ext>
            </a:extLst>
          </p:cNvPr>
          <p:cNvSpPr txBox="1">
            <a:spLocks/>
          </p:cNvSpPr>
          <p:nvPr/>
        </p:nvSpPr>
        <p:spPr>
          <a:xfrm>
            <a:off x="1252497" y="1845734"/>
            <a:ext cx="10613117" cy="3744033"/>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s-CL" sz="2900" dirty="0"/>
              <a:t>Respecto a Valores nulos y datos </a:t>
            </a:r>
            <a:r>
              <a:rPr lang="es-CL" sz="2900" dirty="0" err="1"/>
              <a:t>outliers</a:t>
            </a:r>
            <a:endParaRPr lang="es-CL" sz="2900" dirty="0"/>
          </a:p>
          <a:p>
            <a:r>
              <a:rPr lang="es-CL" dirty="0"/>
              <a:t>Valores nulos no existían y para buscar datos </a:t>
            </a:r>
            <a:r>
              <a:rPr lang="es-CL" dirty="0" err="1"/>
              <a:t>outliers</a:t>
            </a:r>
            <a:r>
              <a:rPr lang="es-CL" dirty="0"/>
              <a:t> generé un gráfico de tipo </a:t>
            </a:r>
            <a:r>
              <a:rPr lang="es-CL" dirty="0" err="1"/>
              <a:t>boxplot</a:t>
            </a:r>
            <a:r>
              <a:rPr lang="es-CL" dirty="0"/>
              <a:t> (imagen adjunta), donde se aprecia que no existe datos atípicos </a:t>
            </a:r>
          </a:p>
          <a:p>
            <a:endParaRPr lang="es-CL" dirty="0"/>
          </a:p>
          <a:p>
            <a:endParaRPr lang="es-CL" dirty="0"/>
          </a:p>
          <a:p>
            <a:endParaRPr lang="es-CL" dirty="0"/>
          </a:p>
          <a:p>
            <a:endParaRPr lang="es-CL" dirty="0"/>
          </a:p>
          <a:p>
            <a:endParaRPr lang="es-CL" dirty="0"/>
          </a:p>
        </p:txBody>
      </p:sp>
      <p:pic>
        <p:nvPicPr>
          <p:cNvPr id="8" name="Imagen 7">
            <a:extLst>
              <a:ext uri="{FF2B5EF4-FFF2-40B4-BE49-F238E27FC236}">
                <a16:creationId xmlns:a16="http://schemas.microsoft.com/office/drawing/2014/main" id="{8A24FA86-FA47-99CB-6E12-B67C9ADD0685}"/>
              </a:ext>
            </a:extLst>
          </p:cNvPr>
          <p:cNvPicPr>
            <a:picLocks noChangeAspect="1"/>
          </p:cNvPicPr>
          <p:nvPr/>
        </p:nvPicPr>
        <p:blipFill>
          <a:blip r:embed="rId2"/>
          <a:stretch>
            <a:fillRect/>
          </a:stretch>
        </p:blipFill>
        <p:spPr>
          <a:xfrm>
            <a:off x="7187979" y="2785713"/>
            <a:ext cx="4832852" cy="3504799"/>
          </a:xfrm>
          <a:prstGeom prst="rect">
            <a:avLst/>
          </a:prstGeom>
        </p:spPr>
      </p:pic>
    </p:spTree>
    <p:extLst>
      <p:ext uri="{BB962C8B-B14F-4D97-AF65-F5344CB8AC3E}">
        <p14:creationId xmlns:p14="http://schemas.microsoft.com/office/powerpoint/2010/main" val="32965238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5DF714-7C2F-517B-475B-D41CF72DD06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B9B3A99-AC63-F5FA-93A1-9C891AC56B0D}"/>
              </a:ext>
            </a:extLst>
          </p:cNvPr>
          <p:cNvSpPr>
            <a:spLocks noGrp="1"/>
          </p:cNvSpPr>
          <p:nvPr>
            <p:ph type="title"/>
          </p:nvPr>
        </p:nvSpPr>
        <p:spPr>
          <a:xfrm>
            <a:off x="1097280" y="286604"/>
            <a:ext cx="10058400" cy="781478"/>
          </a:xfrm>
        </p:spPr>
        <p:txBody>
          <a:bodyPr>
            <a:normAutofit/>
          </a:bodyPr>
          <a:lstStyle/>
          <a:p>
            <a:r>
              <a:rPr lang="es-ES" dirty="0"/>
              <a:t>Principales análisis y hallazgos.</a:t>
            </a:r>
            <a:endParaRPr lang="es-CL" dirty="0"/>
          </a:p>
        </p:txBody>
      </p:sp>
      <p:sp>
        <p:nvSpPr>
          <p:cNvPr id="3" name="Marcador de contenido 2">
            <a:extLst>
              <a:ext uri="{FF2B5EF4-FFF2-40B4-BE49-F238E27FC236}">
                <a16:creationId xmlns:a16="http://schemas.microsoft.com/office/drawing/2014/main" id="{A88F976D-37A9-CE8A-56B8-6E3438FA930D}"/>
              </a:ext>
            </a:extLst>
          </p:cNvPr>
          <p:cNvSpPr>
            <a:spLocks noGrp="1"/>
          </p:cNvSpPr>
          <p:nvPr>
            <p:ph idx="1"/>
          </p:nvPr>
        </p:nvSpPr>
        <p:spPr/>
        <p:txBody>
          <a:bodyPr/>
          <a:lstStyle/>
          <a:p>
            <a:pPr fontAlgn="base"/>
            <a:endParaRPr lang="es-ES" dirty="0"/>
          </a:p>
          <a:p>
            <a:endParaRPr lang="es-CL" dirty="0"/>
          </a:p>
        </p:txBody>
      </p:sp>
      <p:sp>
        <p:nvSpPr>
          <p:cNvPr id="4" name="Marcador de contenido 5">
            <a:extLst>
              <a:ext uri="{FF2B5EF4-FFF2-40B4-BE49-F238E27FC236}">
                <a16:creationId xmlns:a16="http://schemas.microsoft.com/office/drawing/2014/main" id="{F633D9E9-7110-8860-5BE2-7241191ECC47}"/>
              </a:ext>
            </a:extLst>
          </p:cNvPr>
          <p:cNvSpPr txBox="1">
            <a:spLocks/>
          </p:cNvSpPr>
          <p:nvPr/>
        </p:nvSpPr>
        <p:spPr>
          <a:xfrm>
            <a:off x="1252497" y="1845734"/>
            <a:ext cx="10613117" cy="3744033"/>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s-CL" sz="2900" dirty="0"/>
              <a:t>Análisis de correlaciones</a:t>
            </a:r>
          </a:p>
          <a:p>
            <a:r>
              <a:rPr lang="es-ES" dirty="0"/>
              <a:t>Vemos en el grafico que las columnas </a:t>
            </a:r>
            <a:r>
              <a:rPr lang="es-ES" b="1" dirty="0"/>
              <a:t>Price per </a:t>
            </a:r>
            <a:r>
              <a:rPr lang="es-ES" b="1" dirty="0" err="1"/>
              <a:t>Unit</a:t>
            </a:r>
            <a:r>
              <a:rPr lang="es-ES" b="1" dirty="0"/>
              <a:t> </a:t>
            </a:r>
            <a:r>
              <a:rPr lang="es-ES" dirty="0"/>
              <a:t>y </a:t>
            </a:r>
            <a:r>
              <a:rPr lang="es-ES" b="1" dirty="0"/>
              <a:t>Total </a:t>
            </a:r>
            <a:r>
              <a:rPr lang="es-ES" b="1" dirty="0" err="1"/>
              <a:t>Amount</a:t>
            </a:r>
            <a:r>
              <a:rPr lang="es-ES" b="1" dirty="0"/>
              <a:t> </a:t>
            </a:r>
            <a:r>
              <a:rPr lang="es-ES" dirty="0"/>
              <a:t>son las variables que tienen mas correlación</a:t>
            </a:r>
            <a:endParaRPr lang="es-CL" dirty="0"/>
          </a:p>
          <a:p>
            <a:endParaRPr lang="es-CL" dirty="0"/>
          </a:p>
          <a:p>
            <a:endParaRPr lang="es-CL" dirty="0"/>
          </a:p>
          <a:p>
            <a:endParaRPr lang="es-CL" dirty="0"/>
          </a:p>
          <a:p>
            <a:endParaRPr lang="es-CL" dirty="0"/>
          </a:p>
        </p:txBody>
      </p:sp>
      <p:pic>
        <p:nvPicPr>
          <p:cNvPr id="6" name="Imagen 5">
            <a:extLst>
              <a:ext uri="{FF2B5EF4-FFF2-40B4-BE49-F238E27FC236}">
                <a16:creationId xmlns:a16="http://schemas.microsoft.com/office/drawing/2014/main" id="{42983187-1B41-209D-68A2-8F2906429BFB}"/>
              </a:ext>
            </a:extLst>
          </p:cNvPr>
          <p:cNvPicPr>
            <a:picLocks noChangeAspect="1"/>
          </p:cNvPicPr>
          <p:nvPr/>
        </p:nvPicPr>
        <p:blipFill>
          <a:blip r:embed="rId2"/>
          <a:stretch>
            <a:fillRect/>
          </a:stretch>
        </p:blipFill>
        <p:spPr>
          <a:xfrm>
            <a:off x="7691718" y="2812356"/>
            <a:ext cx="4329113" cy="3487119"/>
          </a:xfrm>
          <a:prstGeom prst="rect">
            <a:avLst/>
          </a:prstGeom>
        </p:spPr>
      </p:pic>
    </p:spTree>
    <p:extLst>
      <p:ext uri="{BB962C8B-B14F-4D97-AF65-F5344CB8AC3E}">
        <p14:creationId xmlns:p14="http://schemas.microsoft.com/office/powerpoint/2010/main" val="37734990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BC372-14B7-8AF0-CD46-4A2C5248E05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22A07DB-0374-6B0A-AA22-7EB8230F9839}"/>
              </a:ext>
            </a:extLst>
          </p:cNvPr>
          <p:cNvSpPr>
            <a:spLocks noGrp="1"/>
          </p:cNvSpPr>
          <p:nvPr>
            <p:ph type="title"/>
          </p:nvPr>
        </p:nvSpPr>
        <p:spPr>
          <a:xfrm>
            <a:off x="1097280" y="286604"/>
            <a:ext cx="10058400" cy="781478"/>
          </a:xfrm>
        </p:spPr>
        <p:txBody>
          <a:bodyPr>
            <a:normAutofit/>
          </a:bodyPr>
          <a:lstStyle/>
          <a:p>
            <a:r>
              <a:rPr lang="es-ES" dirty="0"/>
              <a:t>Principales análisis y hallazgos.</a:t>
            </a:r>
            <a:endParaRPr lang="es-CL" dirty="0"/>
          </a:p>
        </p:txBody>
      </p:sp>
      <p:sp>
        <p:nvSpPr>
          <p:cNvPr id="3" name="Marcador de contenido 2">
            <a:extLst>
              <a:ext uri="{FF2B5EF4-FFF2-40B4-BE49-F238E27FC236}">
                <a16:creationId xmlns:a16="http://schemas.microsoft.com/office/drawing/2014/main" id="{B63DECC7-7D43-423C-F514-C2E9CBFE5B70}"/>
              </a:ext>
            </a:extLst>
          </p:cNvPr>
          <p:cNvSpPr>
            <a:spLocks noGrp="1"/>
          </p:cNvSpPr>
          <p:nvPr>
            <p:ph idx="1"/>
          </p:nvPr>
        </p:nvSpPr>
        <p:spPr/>
        <p:txBody>
          <a:bodyPr/>
          <a:lstStyle/>
          <a:p>
            <a:pPr fontAlgn="base"/>
            <a:endParaRPr lang="es-ES" dirty="0"/>
          </a:p>
          <a:p>
            <a:endParaRPr lang="es-CL" dirty="0"/>
          </a:p>
        </p:txBody>
      </p:sp>
      <p:sp>
        <p:nvSpPr>
          <p:cNvPr id="4" name="Marcador de contenido 5">
            <a:extLst>
              <a:ext uri="{FF2B5EF4-FFF2-40B4-BE49-F238E27FC236}">
                <a16:creationId xmlns:a16="http://schemas.microsoft.com/office/drawing/2014/main" id="{8DCAA99D-4CD8-575F-FACE-57604C6C9956}"/>
              </a:ext>
            </a:extLst>
          </p:cNvPr>
          <p:cNvSpPr txBox="1">
            <a:spLocks/>
          </p:cNvSpPr>
          <p:nvPr/>
        </p:nvSpPr>
        <p:spPr>
          <a:xfrm>
            <a:off x="1252497" y="1845734"/>
            <a:ext cx="10613117" cy="3744033"/>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s-CL" sz="2900" dirty="0"/>
              <a:t>Análisis de correlaciones</a:t>
            </a:r>
          </a:p>
          <a:p>
            <a:r>
              <a:rPr lang="es-ES" dirty="0"/>
              <a:t>Vemos en este gráfico la correlación entre las columnas </a:t>
            </a:r>
            <a:r>
              <a:rPr lang="es-ES" b="1" dirty="0"/>
              <a:t>Price per </a:t>
            </a:r>
            <a:r>
              <a:rPr lang="es-ES" b="1" dirty="0" err="1"/>
              <a:t>Unit</a:t>
            </a:r>
            <a:r>
              <a:rPr lang="es-ES" b="1" dirty="0"/>
              <a:t> </a:t>
            </a:r>
            <a:r>
              <a:rPr lang="es-ES" dirty="0"/>
              <a:t>y </a:t>
            </a:r>
            <a:r>
              <a:rPr lang="es-ES" b="1" dirty="0"/>
              <a:t>Total </a:t>
            </a:r>
            <a:r>
              <a:rPr lang="es-ES" b="1" dirty="0" err="1"/>
              <a:t>Amount</a:t>
            </a:r>
            <a:endParaRPr lang="es-CL" dirty="0"/>
          </a:p>
          <a:p>
            <a:endParaRPr lang="es-CL" dirty="0"/>
          </a:p>
          <a:p>
            <a:endParaRPr lang="es-CL" dirty="0"/>
          </a:p>
          <a:p>
            <a:endParaRPr lang="es-CL" dirty="0"/>
          </a:p>
          <a:p>
            <a:endParaRPr lang="es-CL" dirty="0"/>
          </a:p>
        </p:txBody>
      </p:sp>
      <p:pic>
        <p:nvPicPr>
          <p:cNvPr id="7" name="Imagen 6">
            <a:extLst>
              <a:ext uri="{FF2B5EF4-FFF2-40B4-BE49-F238E27FC236}">
                <a16:creationId xmlns:a16="http://schemas.microsoft.com/office/drawing/2014/main" id="{5F969146-2879-9A46-4228-6AD8595DEA74}"/>
              </a:ext>
            </a:extLst>
          </p:cNvPr>
          <p:cNvPicPr>
            <a:picLocks noChangeAspect="1"/>
          </p:cNvPicPr>
          <p:nvPr/>
        </p:nvPicPr>
        <p:blipFill>
          <a:blip r:embed="rId2"/>
          <a:stretch>
            <a:fillRect/>
          </a:stretch>
        </p:blipFill>
        <p:spPr>
          <a:xfrm>
            <a:off x="6204774" y="2869096"/>
            <a:ext cx="5535243" cy="3424128"/>
          </a:xfrm>
          <a:prstGeom prst="rect">
            <a:avLst/>
          </a:prstGeom>
        </p:spPr>
      </p:pic>
    </p:spTree>
    <p:extLst>
      <p:ext uri="{BB962C8B-B14F-4D97-AF65-F5344CB8AC3E}">
        <p14:creationId xmlns:p14="http://schemas.microsoft.com/office/powerpoint/2010/main" val="33834840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D9547B-6076-718F-D9B0-70C24097998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E2C9F0E-BE65-4494-69B2-B99A0086E409}"/>
              </a:ext>
            </a:extLst>
          </p:cNvPr>
          <p:cNvSpPr>
            <a:spLocks noGrp="1"/>
          </p:cNvSpPr>
          <p:nvPr>
            <p:ph type="title"/>
          </p:nvPr>
        </p:nvSpPr>
        <p:spPr>
          <a:xfrm>
            <a:off x="1097280" y="286604"/>
            <a:ext cx="10058400" cy="781478"/>
          </a:xfrm>
        </p:spPr>
        <p:txBody>
          <a:bodyPr>
            <a:normAutofit/>
          </a:bodyPr>
          <a:lstStyle/>
          <a:p>
            <a:pPr fontAlgn="base"/>
            <a:r>
              <a:rPr lang="es-ES" dirty="0"/>
              <a:t>Visualizaciones clave con explicación.</a:t>
            </a:r>
          </a:p>
        </p:txBody>
      </p:sp>
      <p:sp>
        <p:nvSpPr>
          <p:cNvPr id="3" name="Marcador de contenido 2">
            <a:extLst>
              <a:ext uri="{FF2B5EF4-FFF2-40B4-BE49-F238E27FC236}">
                <a16:creationId xmlns:a16="http://schemas.microsoft.com/office/drawing/2014/main" id="{93B1CA5E-04FC-4216-D720-DE34B6F78138}"/>
              </a:ext>
            </a:extLst>
          </p:cNvPr>
          <p:cNvSpPr>
            <a:spLocks noGrp="1"/>
          </p:cNvSpPr>
          <p:nvPr>
            <p:ph idx="1"/>
          </p:nvPr>
        </p:nvSpPr>
        <p:spPr/>
        <p:txBody>
          <a:bodyPr/>
          <a:lstStyle/>
          <a:p>
            <a:pPr fontAlgn="base"/>
            <a:endParaRPr lang="es-ES" dirty="0"/>
          </a:p>
          <a:p>
            <a:endParaRPr lang="es-CL" dirty="0"/>
          </a:p>
        </p:txBody>
      </p:sp>
      <p:sp>
        <p:nvSpPr>
          <p:cNvPr id="4" name="Marcador de contenido 5">
            <a:extLst>
              <a:ext uri="{FF2B5EF4-FFF2-40B4-BE49-F238E27FC236}">
                <a16:creationId xmlns:a16="http://schemas.microsoft.com/office/drawing/2014/main" id="{3D18154F-4128-86C6-B83E-B8E8BA94D061}"/>
              </a:ext>
            </a:extLst>
          </p:cNvPr>
          <p:cNvSpPr txBox="1">
            <a:spLocks/>
          </p:cNvSpPr>
          <p:nvPr/>
        </p:nvSpPr>
        <p:spPr>
          <a:xfrm>
            <a:off x="1252497" y="1845734"/>
            <a:ext cx="10613117" cy="3744033"/>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s-CL" sz="2900" dirty="0"/>
              <a:t>Análisis de Distribución</a:t>
            </a:r>
          </a:p>
          <a:p>
            <a:r>
              <a:rPr lang="es-ES" dirty="0"/>
              <a:t>Vemos en este gráfico la distribución de Edad de Cliente como de Cantidad de Venta</a:t>
            </a:r>
            <a:endParaRPr lang="es-CL" dirty="0"/>
          </a:p>
          <a:p>
            <a:endParaRPr lang="es-CL" dirty="0"/>
          </a:p>
          <a:p>
            <a:endParaRPr lang="es-CL" dirty="0"/>
          </a:p>
          <a:p>
            <a:endParaRPr lang="es-CL" dirty="0"/>
          </a:p>
          <a:p>
            <a:endParaRPr lang="es-CL" dirty="0"/>
          </a:p>
        </p:txBody>
      </p:sp>
      <p:pic>
        <p:nvPicPr>
          <p:cNvPr id="6" name="Imagen 5">
            <a:extLst>
              <a:ext uri="{FF2B5EF4-FFF2-40B4-BE49-F238E27FC236}">
                <a16:creationId xmlns:a16="http://schemas.microsoft.com/office/drawing/2014/main" id="{9403D045-8F44-CF6C-7EA9-37DABBB4F97F}"/>
              </a:ext>
            </a:extLst>
          </p:cNvPr>
          <p:cNvPicPr>
            <a:picLocks noChangeAspect="1"/>
          </p:cNvPicPr>
          <p:nvPr/>
        </p:nvPicPr>
        <p:blipFill>
          <a:blip r:embed="rId2"/>
          <a:stretch>
            <a:fillRect/>
          </a:stretch>
        </p:blipFill>
        <p:spPr>
          <a:xfrm>
            <a:off x="1232421" y="2960345"/>
            <a:ext cx="9862299" cy="3256039"/>
          </a:xfrm>
          <a:prstGeom prst="rect">
            <a:avLst/>
          </a:prstGeom>
        </p:spPr>
      </p:pic>
    </p:spTree>
    <p:extLst>
      <p:ext uri="{BB962C8B-B14F-4D97-AF65-F5344CB8AC3E}">
        <p14:creationId xmlns:p14="http://schemas.microsoft.com/office/powerpoint/2010/main" val="41702225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073D51-F06E-BBFA-2499-2B26B382AF6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330FBCB-2C6B-63CE-76E2-FA4504F9438E}"/>
              </a:ext>
            </a:extLst>
          </p:cNvPr>
          <p:cNvSpPr>
            <a:spLocks noGrp="1"/>
          </p:cNvSpPr>
          <p:nvPr>
            <p:ph type="title"/>
          </p:nvPr>
        </p:nvSpPr>
        <p:spPr>
          <a:xfrm>
            <a:off x="1097280" y="286604"/>
            <a:ext cx="10058400" cy="781478"/>
          </a:xfrm>
        </p:spPr>
        <p:txBody>
          <a:bodyPr>
            <a:normAutofit/>
          </a:bodyPr>
          <a:lstStyle/>
          <a:p>
            <a:pPr fontAlgn="base"/>
            <a:r>
              <a:rPr lang="es-ES" dirty="0"/>
              <a:t>Visualizaciones clave con explicación.</a:t>
            </a:r>
          </a:p>
        </p:txBody>
      </p:sp>
      <p:sp>
        <p:nvSpPr>
          <p:cNvPr id="3" name="Marcador de contenido 2">
            <a:extLst>
              <a:ext uri="{FF2B5EF4-FFF2-40B4-BE49-F238E27FC236}">
                <a16:creationId xmlns:a16="http://schemas.microsoft.com/office/drawing/2014/main" id="{7D9BE2F5-CDF6-E043-211E-0E568F540EDF}"/>
              </a:ext>
            </a:extLst>
          </p:cNvPr>
          <p:cNvSpPr>
            <a:spLocks noGrp="1"/>
          </p:cNvSpPr>
          <p:nvPr>
            <p:ph idx="1"/>
          </p:nvPr>
        </p:nvSpPr>
        <p:spPr/>
        <p:txBody>
          <a:bodyPr/>
          <a:lstStyle/>
          <a:p>
            <a:pPr fontAlgn="base"/>
            <a:endParaRPr lang="es-ES" dirty="0"/>
          </a:p>
          <a:p>
            <a:endParaRPr lang="es-CL" dirty="0"/>
          </a:p>
        </p:txBody>
      </p:sp>
      <p:sp>
        <p:nvSpPr>
          <p:cNvPr id="4" name="Marcador de contenido 5">
            <a:extLst>
              <a:ext uri="{FF2B5EF4-FFF2-40B4-BE49-F238E27FC236}">
                <a16:creationId xmlns:a16="http://schemas.microsoft.com/office/drawing/2014/main" id="{7CA35B8C-3F95-B655-D28E-E72D22773E6C}"/>
              </a:ext>
            </a:extLst>
          </p:cNvPr>
          <p:cNvSpPr txBox="1">
            <a:spLocks/>
          </p:cNvSpPr>
          <p:nvPr/>
        </p:nvSpPr>
        <p:spPr>
          <a:xfrm>
            <a:off x="1252497" y="1845734"/>
            <a:ext cx="10613117" cy="3744033"/>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s-CL" sz="2900" dirty="0"/>
              <a:t>Análisis de Distribución</a:t>
            </a:r>
          </a:p>
          <a:p>
            <a:r>
              <a:rPr lang="es-ES" dirty="0"/>
              <a:t>Vemos en este gráfico la distribución de Precio por Unidad como de Total de Venta</a:t>
            </a:r>
            <a:endParaRPr lang="es-CL" dirty="0"/>
          </a:p>
          <a:p>
            <a:endParaRPr lang="es-CL" dirty="0"/>
          </a:p>
          <a:p>
            <a:endParaRPr lang="es-CL" dirty="0"/>
          </a:p>
          <a:p>
            <a:endParaRPr lang="es-CL" dirty="0"/>
          </a:p>
          <a:p>
            <a:endParaRPr lang="es-CL" dirty="0"/>
          </a:p>
        </p:txBody>
      </p:sp>
      <p:pic>
        <p:nvPicPr>
          <p:cNvPr id="6" name="Imagen 5">
            <a:extLst>
              <a:ext uri="{FF2B5EF4-FFF2-40B4-BE49-F238E27FC236}">
                <a16:creationId xmlns:a16="http://schemas.microsoft.com/office/drawing/2014/main" id="{E13BF000-E895-A4E0-8E67-BF0ADF244F02}"/>
              </a:ext>
            </a:extLst>
          </p:cNvPr>
          <p:cNvPicPr>
            <a:picLocks noChangeAspect="1"/>
          </p:cNvPicPr>
          <p:nvPr/>
        </p:nvPicPr>
        <p:blipFill>
          <a:blip r:embed="rId2"/>
          <a:stretch>
            <a:fillRect/>
          </a:stretch>
        </p:blipFill>
        <p:spPr>
          <a:xfrm>
            <a:off x="1429363" y="2848767"/>
            <a:ext cx="9972848" cy="3229304"/>
          </a:xfrm>
          <a:prstGeom prst="rect">
            <a:avLst/>
          </a:prstGeom>
        </p:spPr>
      </p:pic>
    </p:spTree>
    <p:extLst>
      <p:ext uri="{BB962C8B-B14F-4D97-AF65-F5344CB8AC3E}">
        <p14:creationId xmlns:p14="http://schemas.microsoft.com/office/powerpoint/2010/main" val="15994984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663450-0242-138C-A297-54363172CD5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22324B1-7BE1-0A7F-6313-2E7C134F735E}"/>
              </a:ext>
            </a:extLst>
          </p:cNvPr>
          <p:cNvSpPr>
            <a:spLocks noGrp="1"/>
          </p:cNvSpPr>
          <p:nvPr>
            <p:ph type="title"/>
          </p:nvPr>
        </p:nvSpPr>
        <p:spPr>
          <a:xfrm>
            <a:off x="1097280" y="286604"/>
            <a:ext cx="10058400" cy="781478"/>
          </a:xfrm>
        </p:spPr>
        <p:txBody>
          <a:bodyPr>
            <a:normAutofit/>
          </a:bodyPr>
          <a:lstStyle/>
          <a:p>
            <a:r>
              <a:rPr lang="es-ES" dirty="0"/>
              <a:t>Modelos</a:t>
            </a:r>
            <a:endParaRPr lang="es-CL" dirty="0"/>
          </a:p>
        </p:txBody>
      </p:sp>
      <p:sp>
        <p:nvSpPr>
          <p:cNvPr id="3" name="Marcador de contenido 2">
            <a:extLst>
              <a:ext uri="{FF2B5EF4-FFF2-40B4-BE49-F238E27FC236}">
                <a16:creationId xmlns:a16="http://schemas.microsoft.com/office/drawing/2014/main" id="{C0B74C1F-F842-84A5-9802-D7F0E11F5F2D}"/>
              </a:ext>
            </a:extLst>
          </p:cNvPr>
          <p:cNvSpPr>
            <a:spLocks noGrp="1"/>
          </p:cNvSpPr>
          <p:nvPr>
            <p:ph idx="1"/>
          </p:nvPr>
        </p:nvSpPr>
        <p:spPr/>
        <p:txBody>
          <a:bodyPr/>
          <a:lstStyle/>
          <a:p>
            <a:pPr fontAlgn="base"/>
            <a:endParaRPr lang="es-ES" dirty="0"/>
          </a:p>
          <a:p>
            <a:endParaRPr lang="es-CL" dirty="0"/>
          </a:p>
        </p:txBody>
      </p:sp>
      <p:sp>
        <p:nvSpPr>
          <p:cNvPr id="4" name="Marcador de contenido 5">
            <a:extLst>
              <a:ext uri="{FF2B5EF4-FFF2-40B4-BE49-F238E27FC236}">
                <a16:creationId xmlns:a16="http://schemas.microsoft.com/office/drawing/2014/main" id="{14F8610B-0AF8-EEF6-F57B-DC2BB86FDC6E}"/>
              </a:ext>
            </a:extLst>
          </p:cNvPr>
          <p:cNvSpPr txBox="1">
            <a:spLocks/>
          </p:cNvSpPr>
          <p:nvPr/>
        </p:nvSpPr>
        <p:spPr>
          <a:xfrm>
            <a:off x="1252497" y="1845734"/>
            <a:ext cx="10613117" cy="3744033"/>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None/>
            </a:pPr>
            <a:r>
              <a:rPr lang="es-CL" sz="2900" dirty="0"/>
              <a:t>Preparación de datos</a:t>
            </a:r>
          </a:p>
          <a:p>
            <a:r>
              <a:rPr lang="es-CL" dirty="0"/>
              <a:t>Luego de haber realizado el EDA, tuve que preparar los datos para luego aplicarle los algoritmos seleccionados.</a:t>
            </a:r>
          </a:p>
          <a:p>
            <a:r>
              <a:rPr lang="es-CL" dirty="0"/>
              <a:t>Tuve que crear Transformadores y Pipelines por cada modelo</a:t>
            </a:r>
          </a:p>
          <a:p>
            <a:endParaRPr lang="es-CL" dirty="0"/>
          </a:p>
          <a:p>
            <a:endParaRPr lang="es-CL" dirty="0"/>
          </a:p>
          <a:p>
            <a:endParaRPr lang="es-CL" dirty="0"/>
          </a:p>
          <a:p>
            <a:endParaRPr lang="es-CL" dirty="0"/>
          </a:p>
        </p:txBody>
      </p:sp>
      <p:pic>
        <p:nvPicPr>
          <p:cNvPr id="6" name="Imagen 5">
            <a:extLst>
              <a:ext uri="{FF2B5EF4-FFF2-40B4-BE49-F238E27FC236}">
                <a16:creationId xmlns:a16="http://schemas.microsoft.com/office/drawing/2014/main" id="{CA145EC5-8C54-9DEB-4B08-650E07A1F830}"/>
              </a:ext>
            </a:extLst>
          </p:cNvPr>
          <p:cNvPicPr>
            <a:picLocks noChangeAspect="1"/>
          </p:cNvPicPr>
          <p:nvPr/>
        </p:nvPicPr>
        <p:blipFill>
          <a:blip r:embed="rId2"/>
          <a:stretch>
            <a:fillRect/>
          </a:stretch>
        </p:blipFill>
        <p:spPr>
          <a:xfrm>
            <a:off x="4179063" y="3579743"/>
            <a:ext cx="7231728" cy="2675059"/>
          </a:xfrm>
          <a:prstGeom prst="rect">
            <a:avLst/>
          </a:prstGeom>
        </p:spPr>
      </p:pic>
    </p:spTree>
    <p:extLst>
      <p:ext uri="{BB962C8B-B14F-4D97-AF65-F5344CB8AC3E}">
        <p14:creationId xmlns:p14="http://schemas.microsoft.com/office/powerpoint/2010/main" val="22227800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C11435-920C-F831-F9DB-640FFE57BD5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344480E-06DB-E71C-277A-2FEE600E395B}"/>
              </a:ext>
            </a:extLst>
          </p:cNvPr>
          <p:cNvSpPr>
            <a:spLocks noGrp="1"/>
          </p:cNvSpPr>
          <p:nvPr>
            <p:ph type="title"/>
          </p:nvPr>
        </p:nvSpPr>
        <p:spPr>
          <a:xfrm>
            <a:off x="1097280" y="286604"/>
            <a:ext cx="10058400" cy="781478"/>
          </a:xfrm>
        </p:spPr>
        <p:txBody>
          <a:bodyPr/>
          <a:lstStyle/>
          <a:p>
            <a:r>
              <a:rPr lang="es-CL" dirty="0"/>
              <a:t>Conclusiones y Recomendaciones</a:t>
            </a:r>
          </a:p>
        </p:txBody>
      </p:sp>
      <p:sp>
        <p:nvSpPr>
          <p:cNvPr id="3" name="Marcador de contenido 2">
            <a:extLst>
              <a:ext uri="{FF2B5EF4-FFF2-40B4-BE49-F238E27FC236}">
                <a16:creationId xmlns:a16="http://schemas.microsoft.com/office/drawing/2014/main" id="{0BDB34CB-83D4-B898-3A5F-1ABD7781F212}"/>
              </a:ext>
            </a:extLst>
          </p:cNvPr>
          <p:cNvSpPr>
            <a:spLocks noGrp="1"/>
          </p:cNvSpPr>
          <p:nvPr>
            <p:ph idx="1"/>
          </p:nvPr>
        </p:nvSpPr>
        <p:spPr/>
        <p:txBody>
          <a:bodyPr>
            <a:normAutofit fontScale="85000" lnSpcReduction="20000"/>
          </a:bodyPr>
          <a:lstStyle/>
          <a:p>
            <a:pPr fontAlgn="base"/>
            <a:r>
              <a:rPr lang="es-ES" dirty="0"/>
              <a:t>Para el ejercicio de este proyecto, he seleccionado 3 algoritmos, los cuales entrené y validé:</a:t>
            </a:r>
          </a:p>
          <a:p>
            <a:pPr fontAlgn="base"/>
            <a:endParaRPr lang="es-ES" dirty="0"/>
          </a:p>
          <a:p>
            <a:pPr lvl="1"/>
            <a:r>
              <a:rPr lang="es-CL" dirty="0" err="1"/>
              <a:t>Arbol</a:t>
            </a:r>
            <a:r>
              <a:rPr lang="es-CL" dirty="0"/>
              <a:t> de </a:t>
            </a:r>
            <a:r>
              <a:rPr lang="es-CL" dirty="0" err="1"/>
              <a:t>Decision</a:t>
            </a:r>
            <a:endParaRPr lang="es-CL" dirty="0"/>
          </a:p>
          <a:p>
            <a:pPr lvl="1"/>
            <a:r>
              <a:rPr lang="es-CL" dirty="0"/>
              <a:t>KNN</a:t>
            </a:r>
          </a:p>
          <a:p>
            <a:pPr lvl="1"/>
            <a:r>
              <a:rPr lang="es-CL" dirty="0" err="1"/>
              <a:t>RandomForest</a:t>
            </a:r>
            <a:endParaRPr lang="es-CL" dirty="0"/>
          </a:p>
          <a:p>
            <a:pPr lvl="1"/>
            <a:endParaRPr lang="es-CL" dirty="0"/>
          </a:p>
          <a:p>
            <a:pPr marL="201168" lvl="1" indent="0">
              <a:buNone/>
            </a:pPr>
            <a:endParaRPr lang="es-CL" dirty="0"/>
          </a:p>
          <a:p>
            <a:pPr marL="201168" lvl="1" indent="0">
              <a:buNone/>
            </a:pPr>
            <a:endParaRPr lang="es-CL" dirty="0"/>
          </a:p>
          <a:p>
            <a:pPr marL="201168" lvl="1" indent="0">
              <a:buNone/>
            </a:pPr>
            <a:endParaRPr lang="es-CL" dirty="0"/>
          </a:p>
          <a:p>
            <a:pPr marL="201168" lvl="1" indent="0">
              <a:buNone/>
            </a:pPr>
            <a:endParaRPr lang="es-CL" dirty="0"/>
          </a:p>
          <a:p>
            <a:pPr marL="201168" lvl="1" indent="0">
              <a:buNone/>
            </a:pPr>
            <a:endParaRPr lang="es-CL" dirty="0"/>
          </a:p>
          <a:p>
            <a:pPr marL="201168" lvl="1" indent="0">
              <a:buNone/>
            </a:pPr>
            <a:endParaRPr lang="es-CL" dirty="0"/>
          </a:p>
          <a:p>
            <a:pPr marL="201168" lvl="1" indent="0">
              <a:buNone/>
            </a:pPr>
            <a:endParaRPr lang="es-CL" dirty="0"/>
          </a:p>
          <a:p>
            <a:pPr marL="201168" lvl="1" indent="0">
              <a:buNone/>
            </a:pPr>
            <a:endParaRPr lang="es-CL" dirty="0"/>
          </a:p>
          <a:p>
            <a:pPr marL="201168" lvl="1" indent="0">
              <a:buNone/>
            </a:pPr>
            <a:r>
              <a:rPr lang="es-CL" dirty="0"/>
              <a:t>En este gráfico se puede observar que los Algoritmos de </a:t>
            </a:r>
            <a:r>
              <a:rPr lang="es-CL" dirty="0" err="1"/>
              <a:t>Arbol</a:t>
            </a:r>
            <a:r>
              <a:rPr lang="es-CL" dirty="0"/>
              <a:t> de </a:t>
            </a:r>
            <a:r>
              <a:rPr lang="es-CL" dirty="0" err="1"/>
              <a:t>Decisio</a:t>
            </a:r>
            <a:r>
              <a:rPr lang="es-CL" dirty="0"/>
              <a:t> y el </a:t>
            </a:r>
            <a:r>
              <a:rPr lang="es-CL" dirty="0" err="1"/>
              <a:t>Ramdom</a:t>
            </a:r>
            <a:r>
              <a:rPr lang="es-CL" dirty="0"/>
              <a:t> Forest son los que tuvieron mejor rendimiento (</a:t>
            </a:r>
            <a:r>
              <a:rPr lang="es-CL" dirty="0" err="1"/>
              <a:t>Accuracy</a:t>
            </a:r>
            <a:r>
              <a:rPr lang="es-CL" dirty="0"/>
              <a:t>)</a:t>
            </a:r>
          </a:p>
          <a:p>
            <a:endParaRPr lang="es-CL" dirty="0"/>
          </a:p>
        </p:txBody>
      </p:sp>
      <p:pic>
        <p:nvPicPr>
          <p:cNvPr id="5" name="Imagen 4">
            <a:extLst>
              <a:ext uri="{FF2B5EF4-FFF2-40B4-BE49-F238E27FC236}">
                <a16:creationId xmlns:a16="http://schemas.microsoft.com/office/drawing/2014/main" id="{644708F0-6037-4B28-7AEA-2CA94C730B19}"/>
              </a:ext>
            </a:extLst>
          </p:cNvPr>
          <p:cNvPicPr>
            <a:picLocks noChangeAspect="1"/>
          </p:cNvPicPr>
          <p:nvPr/>
        </p:nvPicPr>
        <p:blipFill>
          <a:blip r:embed="rId3"/>
          <a:stretch>
            <a:fillRect/>
          </a:stretch>
        </p:blipFill>
        <p:spPr>
          <a:xfrm>
            <a:off x="6569849" y="2173603"/>
            <a:ext cx="3842016" cy="2918130"/>
          </a:xfrm>
          <a:prstGeom prst="rect">
            <a:avLst/>
          </a:prstGeom>
        </p:spPr>
      </p:pic>
    </p:spTree>
    <p:extLst>
      <p:ext uri="{BB962C8B-B14F-4D97-AF65-F5344CB8AC3E}">
        <p14:creationId xmlns:p14="http://schemas.microsoft.com/office/powerpoint/2010/main" val="32834251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8F8E34-6E12-30F2-81F7-87106EBE117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6AA4F44-A93E-668A-659C-08B899E0E40A}"/>
              </a:ext>
            </a:extLst>
          </p:cNvPr>
          <p:cNvSpPr>
            <a:spLocks noGrp="1"/>
          </p:cNvSpPr>
          <p:nvPr>
            <p:ph type="title"/>
          </p:nvPr>
        </p:nvSpPr>
        <p:spPr>
          <a:xfrm>
            <a:off x="1097280" y="286604"/>
            <a:ext cx="10058400" cy="781478"/>
          </a:xfrm>
        </p:spPr>
        <p:txBody>
          <a:bodyPr>
            <a:normAutofit/>
          </a:bodyPr>
          <a:lstStyle/>
          <a:p>
            <a:r>
              <a:rPr lang="es-ES" dirty="0"/>
              <a:t>Conclusiones y Recomendaciones</a:t>
            </a:r>
            <a:endParaRPr lang="es-CL" dirty="0"/>
          </a:p>
        </p:txBody>
      </p:sp>
      <p:sp>
        <p:nvSpPr>
          <p:cNvPr id="3" name="Marcador de contenido 2">
            <a:extLst>
              <a:ext uri="{FF2B5EF4-FFF2-40B4-BE49-F238E27FC236}">
                <a16:creationId xmlns:a16="http://schemas.microsoft.com/office/drawing/2014/main" id="{C409D9EF-5380-242A-3F21-21C4B6F25A21}"/>
              </a:ext>
            </a:extLst>
          </p:cNvPr>
          <p:cNvSpPr>
            <a:spLocks noGrp="1"/>
          </p:cNvSpPr>
          <p:nvPr>
            <p:ph idx="1"/>
          </p:nvPr>
        </p:nvSpPr>
        <p:spPr/>
        <p:txBody>
          <a:bodyPr/>
          <a:lstStyle/>
          <a:p>
            <a:pPr fontAlgn="base"/>
            <a:endParaRPr lang="es-ES" dirty="0"/>
          </a:p>
          <a:p>
            <a:pPr fontAlgn="base"/>
            <a:r>
              <a:rPr lang="es-ES" dirty="0"/>
              <a:t>Como recomendación diría que se pueden probar otros algoritmos y otros parámetros</a:t>
            </a:r>
          </a:p>
          <a:p>
            <a:pPr fontAlgn="base"/>
            <a:r>
              <a:rPr lang="es-ES" dirty="0"/>
              <a:t>Probar con más registros.</a:t>
            </a:r>
          </a:p>
          <a:p>
            <a:endParaRPr lang="es-CL" dirty="0"/>
          </a:p>
        </p:txBody>
      </p:sp>
    </p:spTree>
    <p:extLst>
      <p:ext uri="{BB962C8B-B14F-4D97-AF65-F5344CB8AC3E}">
        <p14:creationId xmlns:p14="http://schemas.microsoft.com/office/powerpoint/2010/main" val="3749041252"/>
      </p:ext>
    </p:extLst>
  </p:cSld>
  <p:clrMapOvr>
    <a:masterClrMapping/>
  </p:clrMapOvr>
</p:sld>
</file>

<file path=ppt/theme/theme1.xml><?xml version="1.0" encoding="utf-8"?>
<a:theme xmlns:a="http://schemas.openxmlformats.org/drawingml/2006/main" name="Retrospección">
  <a:themeElements>
    <a:clrScheme name="Retrospección">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6B9F25"/>
      </a:hlink>
      <a:folHlink>
        <a:srgbClr val="B26B02"/>
      </a:folHlink>
    </a:clrScheme>
    <a:fontScheme name="Retrospecció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ción">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D26EA377-59BD-4C9C-9D94-EE8416EE4C79}"/>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76</TotalTime>
  <Words>525</Words>
  <Application>Microsoft Office PowerPoint</Application>
  <PresentationFormat>Panorámica</PresentationFormat>
  <Paragraphs>98</Paragraphs>
  <Slides>13</Slides>
  <Notes>1</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13</vt:i4>
      </vt:variant>
    </vt:vector>
  </HeadingPairs>
  <TitlesOfParts>
    <vt:vector size="18" baseType="lpstr">
      <vt:lpstr>Aptos</vt:lpstr>
      <vt:lpstr>Arial</vt:lpstr>
      <vt:lpstr>Calibri</vt:lpstr>
      <vt:lpstr>Calibri Light</vt:lpstr>
      <vt:lpstr>Retrospección</vt:lpstr>
      <vt:lpstr>Presentación de PowerPoint</vt:lpstr>
      <vt:lpstr>Contenido</vt:lpstr>
      <vt:lpstr>Introducción y objetivos del proyecto.</vt:lpstr>
      <vt:lpstr>Descripción del conjunto de datos</vt:lpstr>
      <vt:lpstr>Principales análisis y hallazgos.</vt:lpstr>
      <vt:lpstr>Principales análisis y hallazgos.</vt:lpstr>
      <vt:lpstr>Principales análisis y hallazgos.</vt:lpstr>
      <vt:lpstr>Principales análisis y hallazgos.</vt:lpstr>
      <vt:lpstr>Visualizaciones clave con explicación.</vt:lpstr>
      <vt:lpstr>Visualizaciones clave con explicación.</vt:lpstr>
      <vt:lpstr>Modelos</vt:lpstr>
      <vt:lpstr>Conclusiones y Recomendaciones</vt:lpstr>
      <vt:lpstr>Conclusiones y Recomendaciones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Alejandro Gómez Aguirre</dc:creator>
  <cp:lastModifiedBy>Alejandro Gómez Aguirre</cp:lastModifiedBy>
  <cp:revision>1</cp:revision>
  <dcterms:created xsi:type="dcterms:W3CDTF">2025-07-10T02:34:24Z</dcterms:created>
  <dcterms:modified xsi:type="dcterms:W3CDTF">2025-07-10T03:50:41Z</dcterms:modified>
</cp:coreProperties>
</file>